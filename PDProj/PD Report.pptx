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3"/>
  </p:notesMasterIdLst>
  <p:sldIdLst>
    <p:sldId id="256" r:id="rId2"/>
    <p:sldId id="280" r:id="rId3"/>
    <p:sldId id="267" r:id="rId4"/>
    <p:sldId id="268" r:id="rId5"/>
    <p:sldId id="258" r:id="rId6"/>
    <p:sldId id="257" r:id="rId7"/>
    <p:sldId id="262" r:id="rId8"/>
    <p:sldId id="259" r:id="rId9"/>
    <p:sldId id="263" r:id="rId10"/>
    <p:sldId id="260" r:id="rId11"/>
    <p:sldId id="271" r:id="rId12"/>
    <p:sldId id="279" r:id="rId13"/>
    <p:sldId id="264" r:id="rId14"/>
    <p:sldId id="278" r:id="rId15"/>
    <p:sldId id="265" r:id="rId16"/>
    <p:sldId id="266" r:id="rId17"/>
    <p:sldId id="275" r:id="rId18"/>
    <p:sldId id="274" r:id="rId19"/>
    <p:sldId id="270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5230" autoAdjust="0"/>
  </p:normalViewPr>
  <p:slideViewPr>
    <p:cSldViewPr snapToGrid="0">
      <p:cViewPr varScale="1">
        <p:scale>
          <a:sx n="70" d="100"/>
          <a:sy n="70" d="100"/>
        </p:scale>
        <p:origin x="11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B27DB9-23C7-44D8-902E-FC2010AE904E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A12DF1-BA6C-4C44-85DE-0D150F07E32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3835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A12DF1-BA6C-4C44-85DE-0D150F07E32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582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A12DF1-BA6C-4C44-85DE-0D150F07E32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8873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A12DF1-BA6C-4C44-85DE-0D150F07E32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7322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4A187-F82C-4CC7-B20E-A97BDA9DE23C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8FCD-531D-40E4-B057-00EB693415C0}" type="slidenum">
              <a:rPr lang="en-GB" smtClean="0"/>
              <a:t>‹nº›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239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4A187-F82C-4CC7-B20E-A97BDA9DE23C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8FCD-531D-40E4-B057-00EB693415C0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111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4A187-F82C-4CC7-B20E-A97BDA9DE23C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8FCD-531D-40E4-B057-00EB693415C0}" type="slidenum">
              <a:rPr lang="en-GB" smtClean="0"/>
              <a:t>‹nº›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1211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4A187-F82C-4CC7-B20E-A97BDA9DE23C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8FCD-531D-40E4-B057-00EB693415C0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501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4A187-F82C-4CC7-B20E-A97BDA9DE23C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8FCD-531D-40E4-B057-00EB693415C0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6224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4A187-F82C-4CC7-B20E-A97BDA9DE23C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8FCD-531D-40E4-B057-00EB693415C0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2514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4A187-F82C-4CC7-B20E-A97BDA9DE23C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8FCD-531D-40E4-B057-00EB693415C0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8265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7D4A187-F82C-4CC7-B20E-A97BDA9DE23C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928FCD-531D-40E4-B057-00EB693415C0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1782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4A187-F82C-4CC7-B20E-A97BDA9DE23C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8FCD-531D-40E4-B057-00EB693415C0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4337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4A187-F82C-4CC7-B20E-A97BDA9DE23C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8FCD-531D-40E4-B057-00EB693415C0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263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4A187-F82C-4CC7-B20E-A97BDA9DE23C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8FCD-531D-40E4-B057-00EB693415C0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377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7D4A187-F82C-4CC7-B20E-A97BDA9DE23C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D928FCD-531D-40E4-B057-00EB693415C0}" type="slidenum">
              <a:rPr lang="en-GB" smtClean="0"/>
              <a:t>‹nº›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5832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D89FE-2DF5-7F01-151F-4F29E3C402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TP PD 25/26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B2A632-7A50-CBFE-0BAA-034B815F60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Luccas Galvan – 2022100410</a:t>
            </a:r>
          </a:p>
          <a:p>
            <a:r>
              <a:rPr lang="en-GB" dirty="0"/>
              <a:t>Octavio </a:t>
            </a:r>
            <a:r>
              <a:rPr lang="en-GB" dirty="0" err="1"/>
              <a:t>marote</a:t>
            </a:r>
            <a:r>
              <a:rPr lang="en-GB" dirty="0"/>
              <a:t> Ribeiro - 2020111324</a:t>
            </a:r>
          </a:p>
        </p:txBody>
      </p:sp>
    </p:spTree>
    <p:extLst>
      <p:ext uri="{BB962C8B-B14F-4D97-AF65-F5344CB8AC3E}">
        <p14:creationId xmlns:p14="http://schemas.microsoft.com/office/powerpoint/2010/main" val="1963222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2DA022-3C23-9662-3615-C0B0C3AA4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Ordem de inicialização e Parâmetros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B633E5-9750-0856-1C32-D92E319E0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A diretoria deve ser a primeira a ser inicializada, passando por argumentos o porto (por exemplo) 6002.</a:t>
            </a:r>
          </a:p>
          <a:p>
            <a:endParaRPr lang="pt-PT" dirty="0"/>
          </a:p>
          <a:p>
            <a:r>
              <a:rPr lang="pt-PT" dirty="0"/>
              <a:t>Em seguida, deve-se iniciar um servidor passando por argumentos o IP da diretoria, o porto UDP da diretoria, uma pasta em root para o ficheiro onde serão armazenados os .db e o endereço de IP para envio dos heartbeats. (Servidores iniciados subsequentemente devem idealmente ter um ficheiro p/ armazenamento de .db’s diferente do servidor inicial)</a:t>
            </a:r>
          </a:p>
          <a:p>
            <a:endParaRPr lang="pt-PT" dirty="0"/>
          </a:p>
          <a:p>
            <a:r>
              <a:rPr lang="pt-PT" dirty="0"/>
              <a:t>O cliente deve ser iniciado passando por argumentos o IP da diretoria e seu porto.</a:t>
            </a:r>
          </a:p>
          <a:p>
            <a:endParaRPr lang="pt-PT" dirty="0"/>
          </a:p>
          <a:p>
            <a:endParaRPr lang="pt-PT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7842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96C42-FF82-BAF4-056F-FB6F944D0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flow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A883838-D5B5-9897-21FF-DEFE40605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r>
              <a:rPr lang="en-GB" b="1" dirty="0"/>
              <a:t>UDP – Server ↔ Directory Service</a:t>
            </a:r>
            <a:br>
              <a:rPr lang="en-GB" b="1" dirty="0"/>
            </a:br>
            <a:r>
              <a:rPr lang="en-GB" dirty="0"/>
              <a:t>Servidor envia um pedido de </a:t>
            </a:r>
            <a:r>
              <a:rPr lang="en-GB" dirty="0" err="1"/>
              <a:t>registro</a:t>
            </a:r>
            <a:r>
              <a:rPr lang="en-GB" dirty="0"/>
              <a:t> para o Directory Service via UDP.</a:t>
            </a:r>
            <a:br>
              <a:rPr lang="en-GB" dirty="0"/>
            </a:br>
            <a:r>
              <a:rPr lang="en-GB" dirty="0"/>
              <a:t>Servidor envia mensagens de heartbeat periodicamente.</a:t>
            </a:r>
            <a:br>
              <a:rPr lang="en-GB" dirty="0"/>
            </a:br>
            <a:r>
              <a:rPr lang="en-GB" dirty="0"/>
              <a:t>Directory responde com informações do servidor primário.</a:t>
            </a:r>
            <a:br>
              <a:rPr lang="en-GB" dirty="0"/>
            </a:br>
            <a:br>
              <a:rPr lang="en-GB" dirty="0"/>
            </a:br>
            <a:r>
              <a:rPr lang="en-GB" b="1" dirty="0"/>
              <a:t>TCP – Client ↔ Server</a:t>
            </a:r>
            <a:br>
              <a:rPr lang="en-GB" b="1" dirty="0"/>
            </a:br>
            <a:r>
              <a:rPr lang="en-GB" dirty="0"/>
              <a:t>Login e registro de usuários.</a:t>
            </a:r>
            <a:br>
              <a:rPr lang="en-GB" dirty="0"/>
            </a:br>
            <a:r>
              <a:rPr lang="en-GB" dirty="0"/>
              <a:t>Comandos de clientes.</a:t>
            </a:r>
            <a:br>
              <a:rPr lang="en-GB" dirty="0"/>
            </a:br>
            <a:br>
              <a:rPr lang="en-GB" dirty="0"/>
            </a:br>
            <a:r>
              <a:rPr lang="en-GB" b="1" dirty="0"/>
              <a:t>TCP – Server ↔ Server</a:t>
            </a:r>
            <a:br>
              <a:rPr lang="en-GB" b="1" dirty="0"/>
            </a:br>
            <a:r>
              <a:rPr lang="en-GB" dirty="0"/>
              <a:t>Sincronização de DB do servidor primário para novos servidores.</a:t>
            </a:r>
            <a:br>
              <a:rPr lang="en-GB" dirty="0"/>
            </a:br>
            <a:br>
              <a:rPr lang="en-GB" dirty="0"/>
            </a:br>
            <a:r>
              <a:rPr lang="en-GB" b="1" dirty="0"/>
              <a:t>Multicast (UDP) – Server ↔ Server</a:t>
            </a:r>
            <a:br>
              <a:rPr lang="en-GB" b="1" dirty="0"/>
            </a:br>
            <a:r>
              <a:rPr lang="en-GB" dirty="0"/>
              <a:t>Broadcast de heartbeats para os demais servidores.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758376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724E1-0C90-8763-D556-A54C0BB7F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Exemplos de Data Flow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081FD3C-1022-8CF3-C136-6EDB7CECC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3024506"/>
            <a:ext cx="4485640" cy="209613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Client → Directory : UDP request for server</a:t>
            </a:r>
          </a:p>
          <a:p>
            <a:pPr marL="0" indent="0">
              <a:buNone/>
            </a:pPr>
            <a:r>
              <a:rPr lang="en-GB" dirty="0"/>
              <a:t>Directory → Client : primary server info</a:t>
            </a:r>
          </a:p>
          <a:p>
            <a:pPr marL="0" indent="0">
              <a:buNone/>
            </a:pPr>
            <a:r>
              <a:rPr lang="en-GB" dirty="0"/>
              <a:t>Client → Server : LOGIN &lt;email&gt; &lt;password&gt;</a:t>
            </a:r>
          </a:p>
          <a:p>
            <a:pPr marL="0" indent="0">
              <a:buNone/>
            </a:pPr>
            <a:r>
              <a:rPr lang="en-GB" dirty="0"/>
              <a:t>Server → Client : LOGIN_OK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1CC13A3-1C3F-9990-49E3-73C6E2800FC1}"/>
              </a:ext>
            </a:extLst>
          </p:cNvPr>
          <p:cNvSpPr txBox="1">
            <a:spLocks/>
          </p:cNvSpPr>
          <p:nvPr/>
        </p:nvSpPr>
        <p:spPr>
          <a:xfrm>
            <a:off x="5999480" y="3024506"/>
            <a:ext cx="4993640" cy="20961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/>
              <a:t>Client(teacher) → Server : CREATE_QUESTION</a:t>
            </a:r>
          </a:p>
          <a:p>
            <a:pPr marL="0" indent="0">
              <a:buNone/>
            </a:pPr>
            <a:r>
              <a:rPr lang="en-GB" sz="2000" dirty="0"/>
              <a:t>Server → Client : PROMPT ...</a:t>
            </a:r>
          </a:p>
          <a:p>
            <a:pPr marL="0" indent="0">
              <a:buNone/>
            </a:pPr>
            <a:r>
              <a:rPr lang="en-GB" sz="2000" dirty="0"/>
              <a:t>Client → Server : answers</a:t>
            </a:r>
          </a:p>
          <a:p>
            <a:pPr marL="0" indent="0">
              <a:buNone/>
            </a:pPr>
            <a:r>
              <a:rPr lang="en-GB" sz="2000" dirty="0"/>
              <a:t>Server → SQLite : INSERT question + options</a:t>
            </a:r>
          </a:p>
          <a:p>
            <a:pPr marL="0" indent="0">
              <a:buNone/>
            </a:pPr>
            <a:r>
              <a:rPr lang="en-GB" sz="2000" dirty="0"/>
              <a:t>Server → Client : OK + access code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C0BAE5-B3D6-0718-416F-BBC97C4E578B}"/>
              </a:ext>
            </a:extLst>
          </p:cNvPr>
          <p:cNvSpPr txBox="1"/>
          <p:nvPr/>
        </p:nvSpPr>
        <p:spPr>
          <a:xfrm>
            <a:off x="7501354" y="2165489"/>
            <a:ext cx="186833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b="1" dirty="0"/>
              <a:t>DB Interaction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DCD128-E2A6-46DE-43D3-E1369A4F0E97}"/>
              </a:ext>
            </a:extLst>
          </p:cNvPr>
          <p:cNvSpPr txBox="1"/>
          <p:nvPr/>
        </p:nvSpPr>
        <p:spPr>
          <a:xfrm>
            <a:off x="2208686" y="2196267"/>
            <a:ext cx="154779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b="1" dirty="0"/>
              <a:t>Client Login</a:t>
            </a:r>
          </a:p>
        </p:txBody>
      </p:sp>
    </p:spTree>
    <p:extLst>
      <p:ext uri="{BB962C8B-B14F-4D97-AF65-F5344CB8AC3E}">
        <p14:creationId xmlns:p14="http://schemas.microsoft.com/office/powerpoint/2010/main" val="2153452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E186C-4D07-BDCD-45BA-05D33B58B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Ficheiros Principais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29E30-9718-D8BF-F6BB-D32780767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br>
              <a:rPr lang="en-GB" sz="2200" b="1" u="sng" dirty="0"/>
            </a:br>
            <a:r>
              <a:rPr lang="en-GB" sz="2200" b="1" u="sng" dirty="0"/>
              <a:t>Directory Service</a:t>
            </a:r>
            <a:br>
              <a:rPr lang="en-GB" b="1" dirty="0"/>
            </a:br>
            <a:r>
              <a:rPr lang="en-GB" dirty="0"/>
              <a:t>Ponte de coordenação entre servidores.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sz="2200" b="1" u="sng" dirty="0"/>
              <a:t>Cliente</a:t>
            </a:r>
            <a:br>
              <a:rPr lang="en-GB" dirty="0"/>
            </a:br>
            <a:r>
              <a:rPr lang="en-GB" dirty="0"/>
              <a:t>Manda inputs do usuário e imprime respostas do servidor no ecrã.</a:t>
            </a:r>
            <a:br>
              <a:rPr lang="en-GB" dirty="0"/>
            </a:br>
            <a:endParaRPr lang="en-GB" dirty="0"/>
          </a:p>
          <a:p>
            <a:r>
              <a:rPr lang="en-GB" sz="2200" b="1" u="sng" dirty="0"/>
              <a:t>Server</a:t>
            </a:r>
            <a:br>
              <a:rPr lang="en-GB" dirty="0"/>
            </a:br>
            <a:r>
              <a:rPr lang="en-GB" dirty="0"/>
              <a:t>Servidores primários tomam conta de interações com os clientes.</a:t>
            </a:r>
            <a:br>
              <a:rPr lang="en-GB" dirty="0"/>
            </a:br>
            <a:r>
              <a:rPr lang="en-GB" dirty="0"/>
              <a:t>Secundários mantêm uma cópia sincronizada da DB e podem virar primários caso </a:t>
            </a:r>
            <a:r>
              <a:rPr lang="en-GB" dirty="0" err="1"/>
              <a:t>necessário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sz="2200" b="1" u="sng" dirty="0"/>
              <a:t>Database Manager</a:t>
            </a:r>
          </a:p>
          <a:p>
            <a:r>
              <a:rPr lang="en-GB" sz="2100" dirty="0" err="1"/>
              <a:t>Coordena</a:t>
            </a:r>
            <a:r>
              <a:rPr lang="en-GB" sz="2100" dirty="0"/>
              <a:t> </a:t>
            </a:r>
            <a:r>
              <a:rPr lang="en-GB" sz="2100" dirty="0" err="1"/>
              <a:t>interações</a:t>
            </a:r>
            <a:r>
              <a:rPr lang="en-GB" sz="2100" dirty="0"/>
              <a:t> com a base de dados (</a:t>
            </a:r>
            <a:r>
              <a:rPr lang="en-GB" sz="2100" dirty="0" err="1"/>
              <a:t>busca</a:t>
            </a:r>
            <a:r>
              <a:rPr lang="en-GB" sz="2100" dirty="0"/>
              <a:t> &amp; </a:t>
            </a:r>
            <a:r>
              <a:rPr lang="en-GB" sz="2100" dirty="0" err="1"/>
              <a:t>inserção</a:t>
            </a:r>
            <a:r>
              <a:rPr lang="en-GB" sz="21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59474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244EF-437A-34D9-F022-02909B17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Directory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8B5C1-9FF1-6ED3-9FF1-07FE94618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GB" dirty="0"/>
            </a:br>
            <a:r>
              <a:rPr lang="en-GB" dirty="0"/>
              <a:t>Mantém uma lista de servidores ativos ordenados por tempo de registro.</a:t>
            </a:r>
            <a:br>
              <a:rPr lang="en-GB" dirty="0"/>
            </a:br>
            <a:endParaRPr lang="en-GB" dirty="0"/>
          </a:p>
          <a:p>
            <a:r>
              <a:rPr lang="en-GB" dirty="0"/>
              <a:t>Recebe de cada servidor seus TCP ports, DB copy port e DB atual.</a:t>
            </a:r>
            <a:br>
              <a:rPr lang="en-GB" dirty="0"/>
            </a:br>
            <a:endParaRPr lang="en-GB" dirty="0"/>
          </a:p>
          <a:p>
            <a:r>
              <a:rPr lang="en-GB" dirty="0"/>
              <a:t>Remove servidores que não mandarem uma heartbeat dentro de um prazo de 17 segundos.</a:t>
            </a:r>
          </a:p>
        </p:txBody>
      </p:sp>
    </p:spTree>
    <p:extLst>
      <p:ext uri="{BB962C8B-B14F-4D97-AF65-F5344CB8AC3E}">
        <p14:creationId xmlns:p14="http://schemas.microsoft.com/office/powerpoint/2010/main" val="3729275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67658-F772-877C-9DF4-2FAECD535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Directory Service Methods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7D893E3-F46F-50B7-DB3D-A1F63029E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GB" dirty="0"/>
            </a:br>
            <a:r>
              <a:rPr lang="en-GB" b="1" dirty="0"/>
              <a:t>registerServer()</a:t>
            </a:r>
            <a:br>
              <a:rPr lang="en-GB" dirty="0"/>
            </a:br>
            <a:r>
              <a:rPr lang="en-GB" dirty="0"/>
              <a:t>	Stores: IP, Client TCP, DB copy port, timestamp de registro.</a:t>
            </a:r>
            <a:br>
              <a:rPr lang="en-GB" dirty="0"/>
            </a:br>
            <a:endParaRPr lang="en-GB" dirty="0"/>
          </a:p>
          <a:p>
            <a:r>
              <a:rPr lang="en-GB" b="1" dirty="0"/>
              <a:t>getPrimary()</a:t>
            </a:r>
            <a:br>
              <a:rPr lang="en-GB" dirty="0"/>
            </a:br>
            <a:r>
              <a:rPr lang="en-GB" dirty="0"/>
              <a:t>	Retorna servidor primário (o mais antigo).</a:t>
            </a:r>
            <a:br>
              <a:rPr lang="en-GB" dirty="0"/>
            </a:br>
            <a:endParaRPr lang="en-GB" dirty="0"/>
          </a:p>
          <a:p>
            <a:r>
              <a:rPr lang="en-GB" b="1" dirty="0"/>
              <a:t>handleHeartbeatPacket()</a:t>
            </a:r>
            <a:br>
              <a:rPr lang="en-GB" dirty="0"/>
            </a:br>
            <a:r>
              <a:rPr lang="en-GB" dirty="0"/>
              <a:t>	Update no ultimo timestamp de prova de vida.</a:t>
            </a:r>
            <a:br>
              <a:rPr lang="en-GB" dirty="0"/>
            </a:br>
            <a:endParaRPr lang="en-GB" dirty="0"/>
          </a:p>
          <a:p>
            <a:r>
              <a:rPr lang="en-GB" b="1" dirty="0"/>
              <a:t>handleRegisterPacket()</a:t>
            </a:r>
            <a:br>
              <a:rPr lang="en-GB" dirty="0"/>
            </a:br>
            <a:r>
              <a:rPr lang="en-GB" dirty="0"/>
              <a:t>	Registra servidores.</a:t>
            </a:r>
          </a:p>
        </p:txBody>
      </p:sp>
    </p:spTree>
    <p:extLst>
      <p:ext uri="{BB962C8B-B14F-4D97-AF65-F5344CB8AC3E}">
        <p14:creationId xmlns:p14="http://schemas.microsoft.com/office/powerpoint/2010/main" val="4292175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491EC-FDE8-9DA4-1169-B79BF9920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Servers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61775-014A-6BFC-BAEB-F9C930F79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br>
              <a:rPr lang="en-GB" dirty="0"/>
            </a:br>
            <a:r>
              <a:rPr lang="en-GB" dirty="0"/>
              <a:t>Define se é primário ou não, se sim, cria ou da load em uma DB já existente. Se não, conecta-se ao DB-copy primário e descarega a DB file.</a:t>
            </a:r>
            <a:br>
              <a:rPr lang="en-GB" dirty="0"/>
            </a:br>
            <a:endParaRPr lang="en-GB" dirty="0"/>
          </a:p>
          <a:p>
            <a:r>
              <a:rPr lang="en-GB" dirty="0"/>
              <a:t>Abre uma thread dedicada e usada para aceitar clients (ClientAcceptor).</a:t>
            </a:r>
            <a:br>
              <a:rPr lang="en-GB" dirty="0"/>
            </a:br>
            <a:endParaRPr lang="en-GB" dirty="0"/>
          </a:p>
          <a:p>
            <a:r>
              <a:rPr lang="en-GB" dirty="0"/>
              <a:t>Processa commandos e os dispacha para os métodos necessários no servidor.</a:t>
            </a:r>
            <a:br>
              <a:rPr lang="en-GB" dirty="0"/>
            </a:br>
            <a:endParaRPr lang="en-GB" dirty="0"/>
          </a:p>
          <a:p>
            <a:r>
              <a:rPr lang="en-GB" dirty="0"/>
              <a:t>Comunicação com SQLite via DatabaseManager.</a:t>
            </a:r>
            <a:br>
              <a:rPr lang="en-GB" dirty="0"/>
            </a:br>
            <a:endParaRPr lang="en-GB" dirty="0"/>
          </a:p>
          <a:p>
            <a:r>
              <a:rPr lang="en-GB" dirty="0"/>
              <a:t>Updates constantes para o Directory via heartbeats, notifica que o servidor primário ainda está ativo e faz updates na versão da DB.</a:t>
            </a:r>
          </a:p>
        </p:txBody>
      </p:sp>
    </p:spTree>
    <p:extLst>
      <p:ext uri="{BB962C8B-B14F-4D97-AF65-F5344CB8AC3E}">
        <p14:creationId xmlns:p14="http://schemas.microsoft.com/office/powerpoint/2010/main" val="3237517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B10E7-4CFD-FC06-7B23-3524DF950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Servers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8659ED-1627-266B-8D09-46CDA2F16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47520"/>
            <a:ext cx="10515600" cy="4961890"/>
          </a:xfrm>
        </p:spPr>
        <p:txBody>
          <a:bodyPr>
            <a:normAutofit/>
          </a:bodyPr>
          <a:lstStyle/>
          <a:p>
            <a:r>
              <a:rPr lang="en-GB" sz="1600" b="1" dirty="0"/>
              <a:t>start()</a:t>
            </a:r>
            <a:br>
              <a:rPr lang="en-GB" sz="1600" dirty="0"/>
            </a:br>
            <a:r>
              <a:rPr lang="en-GB" sz="1600" dirty="0"/>
              <a:t>Abre ports TCP, registra com o directory, determina estado do servidor, loads/syncs DB, começa client/DB threads e heartbeats.</a:t>
            </a:r>
          </a:p>
          <a:p>
            <a:r>
              <a:rPr lang="en-GB" sz="1600" b="1" dirty="0"/>
              <a:t>registryWithDirectory()</a:t>
            </a:r>
            <a:br>
              <a:rPr lang="en-GB" sz="1600" dirty="0"/>
            </a:br>
            <a:r>
              <a:rPr lang="en-GB" sz="1600" dirty="0"/>
              <a:t>Decide se o servidor e o primário ou não.</a:t>
            </a:r>
          </a:p>
          <a:p>
            <a:r>
              <a:rPr lang="en-GB" sz="1600" b="1" dirty="0"/>
              <a:t>initOrLoadLocalDbAsPrimary()</a:t>
            </a:r>
            <a:br>
              <a:rPr lang="en-GB" sz="1600" dirty="0"/>
            </a:br>
            <a:r>
              <a:rPr lang="en-GB" sz="1600" dirty="0"/>
              <a:t>Cria ou conecta-se a DB e liga o servidor ao DataManager.</a:t>
            </a:r>
          </a:p>
          <a:p>
            <a:r>
              <a:rPr lang="en-GB" sz="1600" b="1" dirty="0"/>
              <a:t>obtainDbFromPrimary()</a:t>
            </a:r>
            <a:br>
              <a:rPr lang="en-GB" sz="1600" dirty="0"/>
            </a:br>
            <a:r>
              <a:rPr lang="en-GB" sz="1600" dirty="0"/>
              <a:t>Conecta servidores nao primários ao DB-copy port.</a:t>
            </a:r>
          </a:p>
          <a:p>
            <a:r>
              <a:rPr lang="en-GB" sz="1600" b="1" dirty="0"/>
              <a:t>startClientAcceptor()</a:t>
            </a:r>
            <a:br>
              <a:rPr lang="en-GB" sz="1600" dirty="0"/>
            </a:br>
            <a:r>
              <a:rPr lang="en-GB" sz="1600" dirty="0"/>
              <a:t>Criação de thread para clientes.</a:t>
            </a:r>
          </a:p>
          <a:p>
            <a:r>
              <a:rPr lang="en-GB" sz="1600" b="1" dirty="0"/>
              <a:t>ClientHandler()</a:t>
            </a:r>
            <a:br>
              <a:rPr lang="en-GB" sz="1600" dirty="0"/>
            </a:br>
            <a:r>
              <a:rPr lang="en-GB" sz="1600" dirty="0"/>
              <a:t>Lógica do servidor (lê mensagens do cliente e chama os métodos necessários).</a:t>
            </a:r>
          </a:p>
          <a:p>
            <a:r>
              <a:rPr lang="en-GB" sz="1600" b="1" dirty="0"/>
              <a:t>Handle…()</a:t>
            </a:r>
            <a:br>
              <a:rPr lang="en-GB" sz="1600" dirty="0"/>
            </a:br>
            <a:r>
              <a:rPr lang="en-GB" sz="1600" dirty="0"/>
              <a:t>Métodos auxiliaries para diferentes commandos dos clients.</a:t>
            </a:r>
          </a:p>
        </p:txBody>
      </p:sp>
    </p:spTree>
    <p:extLst>
      <p:ext uri="{BB962C8B-B14F-4D97-AF65-F5344CB8AC3E}">
        <p14:creationId xmlns:p14="http://schemas.microsoft.com/office/powerpoint/2010/main" val="1461473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D225-9796-9672-03A4-329B72805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Clientes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B4EC2-6622-4317-0C59-1E8616459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GB" dirty="0"/>
            </a:br>
            <a:r>
              <a:rPr lang="en-GB" dirty="0"/>
              <a:t>Contato com o Directory via UDP para receber o IP/port do servidor primário.</a:t>
            </a:r>
            <a:br>
              <a:rPr lang="en-GB" dirty="0"/>
            </a:br>
            <a:endParaRPr lang="en-GB" dirty="0"/>
          </a:p>
          <a:p>
            <a:r>
              <a:rPr lang="en-GB" dirty="0"/>
              <a:t>Se conecta diretamente com o server via TCP.</a:t>
            </a:r>
            <a:br>
              <a:rPr lang="en-GB" dirty="0"/>
            </a:br>
            <a:endParaRPr lang="en-GB" dirty="0"/>
          </a:p>
          <a:p>
            <a:r>
              <a:rPr lang="en-GB" dirty="0"/>
              <a:t>Manda comandos de registro e login.</a:t>
            </a:r>
            <a:br>
              <a:rPr lang="en-GB" dirty="0"/>
            </a:br>
            <a:endParaRPr lang="en-GB" dirty="0"/>
          </a:p>
          <a:p>
            <a:r>
              <a:rPr lang="en-GB" dirty="0"/>
              <a:t>Post-login Loop usado para mandar comandos adicionais e imprimir as respostas do servidor.</a:t>
            </a:r>
          </a:p>
        </p:txBody>
      </p:sp>
    </p:spTree>
    <p:extLst>
      <p:ext uri="{BB962C8B-B14F-4D97-AF65-F5344CB8AC3E}">
        <p14:creationId xmlns:p14="http://schemas.microsoft.com/office/powerpoint/2010/main" val="2783660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077DA0-D119-14AA-3B3B-60A3B5F7C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Decisões Chave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9764E1-F2E1-000D-E96C-1E3FD7466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b="1" dirty="0"/>
              <a:t>Protocolos de comunicação </a:t>
            </a:r>
            <a:r>
              <a:rPr lang="pt-BR" b="1" dirty="0" err="1"/>
              <a:t>Serv-Cli</a:t>
            </a:r>
            <a:r>
              <a:rPr lang="pt-BR" b="1" dirty="0"/>
              <a:t> &amp; </a:t>
            </a:r>
            <a:r>
              <a:rPr lang="pt-BR" b="1" dirty="0" err="1"/>
              <a:t>Directory</a:t>
            </a:r>
            <a:endParaRPr lang="pt-BR" dirty="0"/>
          </a:p>
          <a:p>
            <a:r>
              <a:rPr lang="pt-BR" dirty="0"/>
              <a:t>Foram criados protocolos para comunicação eficiente entre as diferentes classes principais do projeto.</a:t>
            </a:r>
          </a:p>
          <a:p>
            <a:r>
              <a:rPr lang="pt-BR" dirty="0"/>
              <a:t>Métodos como </a:t>
            </a:r>
            <a:r>
              <a:rPr lang="pt-BR" dirty="0" err="1"/>
              <a:t>buildRegister</a:t>
            </a:r>
            <a:r>
              <a:rPr lang="pt-BR" dirty="0"/>
              <a:t> (</a:t>
            </a:r>
            <a:r>
              <a:rPr lang="pt-BR" dirty="0" err="1"/>
              <a:t>directory</a:t>
            </a:r>
            <a:r>
              <a:rPr lang="pt-BR" dirty="0"/>
              <a:t>), </a:t>
            </a:r>
            <a:r>
              <a:rPr lang="pt-BR" dirty="0" err="1"/>
              <a:t>buildLoginRequest</a:t>
            </a:r>
            <a:r>
              <a:rPr lang="pt-BR" dirty="0"/>
              <a:t> (</a:t>
            </a:r>
            <a:r>
              <a:rPr lang="pt-BR" dirty="0" err="1"/>
              <a:t>Serv-Cli</a:t>
            </a:r>
            <a:r>
              <a:rPr lang="pt-BR" dirty="0"/>
              <a:t>) e </a:t>
            </a:r>
            <a:r>
              <a:rPr lang="pt-BR" dirty="0" err="1"/>
              <a:t>buildError</a:t>
            </a:r>
            <a:r>
              <a:rPr lang="pt-BR" dirty="0"/>
              <a:t> auxiliaram a</a:t>
            </a:r>
          </a:p>
          <a:p>
            <a:r>
              <a:rPr lang="pt-BR" dirty="0"/>
              <a:t>Organização da comunicação entre as classes.</a:t>
            </a:r>
            <a:endParaRPr lang="pt-BR" b="1" dirty="0"/>
          </a:p>
          <a:p>
            <a:r>
              <a:rPr lang="pt-BR" b="1" dirty="0"/>
              <a:t>Protocolo texto </a:t>
            </a:r>
            <a:r>
              <a:rPr lang="pt-BR" b="1" dirty="0" err="1"/>
              <a:t>line-based</a:t>
            </a:r>
            <a:endParaRPr lang="pt-BR" dirty="0"/>
          </a:p>
          <a:p>
            <a:r>
              <a:rPr lang="pt-BR" dirty="0"/>
              <a:t>Comandos simples (ex.: LOGIN </a:t>
            </a:r>
            <a:r>
              <a:rPr lang="pt-BR" dirty="0" err="1"/>
              <a:t>email</a:t>
            </a:r>
            <a:r>
              <a:rPr lang="pt-BR" dirty="0"/>
              <a:t> </a:t>
            </a:r>
            <a:r>
              <a:rPr lang="pt-BR" dirty="0" err="1"/>
              <a:t>password</a:t>
            </a:r>
            <a:r>
              <a:rPr lang="pt-BR" dirty="0"/>
              <a:t>)</a:t>
            </a:r>
          </a:p>
          <a:p>
            <a:r>
              <a:rPr lang="pt-BR" dirty="0"/>
              <a:t>BLOCK e QUESTION_BLOCK para agrupar múltiplas linhas em respostas estruturadas</a:t>
            </a:r>
          </a:p>
          <a:p>
            <a:r>
              <a:rPr lang="pt-BR" b="1" dirty="0"/>
              <a:t>Atomização do acesso à BD</a:t>
            </a:r>
            <a:endParaRPr lang="pt-BR" dirty="0"/>
          </a:p>
          <a:p>
            <a:r>
              <a:rPr lang="pt-BR" dirty="0" err="1"/>
              <a:t>DatabaseManager</a:t>
            </a:r>
            <a:r>
              <a:rPr lang="pt-BR" dirty="0"/>
              <a:t> encapsula todas as operações SQL e regras de negócio (</a:t>
            </a:r>
            <a:r>
              <a:rPr lang="pt-BR" dirty="0" err="1"/>
              <a:t>unique</a:t>
            </a:r>
            <a:r>
              <a:rPr lang="pt-BR" dirty="0"/>
              <a:t> </a:t>
            </a:r>
            <a:r>
              <a:rPr lang="pt-BR" dirty="0" err="1"/>
              <a:t>emails</a:t>
            </a:r>
            <a:r>
              <a:rPr lang="pt-BR" dirty="0"/>
              <a:t>, estado das questões, etc.)</a:t>
            </a:r>
          </a:p>
          <a:p>
            <a:r>
              <a:rPr lang="pt-BR" dirty="0"/>
              <a:t>Sincronização em torno de </a:t>
            </a:r>
            <a:r>
              <a:rPr lang="pt-BR" dirty="0" err="1"/>
              <a:t>dbLock</a:t>
            </a:r>
            <a:r>
              <a:rPr lang="pt-BR" dirty="0"/>
              <a:t> para garantir consistência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43321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CE5948-B279-627F-8B67-E515CB7D0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AE903B0-A6D8-211C-2DD9-82B83C31C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2D9F1E-56C8-EFCA-5E2D-B2E4BAE19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GB" dirty="0" err="1"/>
              <a:t>Protocolos</a:t>
            </a:r>
            <a:r>
              <a:rPr lang="en-GB" dirty="0"/>
              <a:t> de </a:t>
            </a:r>
            <a:r>
              <a:rPr lang="en-GB" dirty="0" err="1"/>
              <a:t>Comunicação</a:t>
            </a:r>
            <a:endParaRPr lang="en-GB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A720701-FC81-294D-85D5-81AD77CBC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DA709-F1C0-ABFE-930F-7EA9CD8E5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>
            <a:normAutofit/>
          </a:bodyPr>
          <a:lstStyle/>
          <a:p>
            <a:r>
              <a:rPr lang="en-GB" dirty="0"/>
              <a:t>A </a:t>
            </a:r>
            <a:r>
              <a:rPr lang="en-GB" dirty="0" err="1"/>
              <a:t>criação</a:t>
            </a:r>
            <a:r>
              <a:rPr lang="en-GB" dirty="0"/>
              <a:t> de </a:t>
            </a:r>
            <a:r>
              <a:rPr lang="en-GB" dirty="0" err="1"/>
              <a:t>protocolos</a:t>
            </a:r>
            <a:r>
              <a:rPr lang="en-GB" dirty="0"/>
              <a:t> </a:t>
            </a:r>
            <a:r>
              <a:rPr lang="en-GB" dirty="0" err="1"/>
              <a:t>auxiliou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organização</a:t>
            </a:r>
            <a:r>
              <a:rPr lang="en-GB" dirty="0"/>
              <a:t> e </a:t>
            </a:r>
            <a:r>
              <a:rPr lang="en-GB" dirty="0" err="1"/>
              <a:t>centralização</a:t>
            </a:r>
            <a:r>
              <a:rPr lang="en-GB" dirty="0"/>
              <a:t> do Código </a:t>
            </a:r>
            <a:r>
              <a:rPr lang="en-GB" dirty="0" err="1"/>
              <a:t>durante</a:t>
            </a:r>
            <a:r>
              <a:rPr lang="en-GB" dirty="0"/>
              <a:t> o </a:t>
            </a:r>
            <a:r>
              <a:rPr lang="en-GB" dirty="0" err="1"/>
              <a:t>projeto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Parse methods, builders e Record Classes </a:t>
            </a:r>
            <a:r>
              <a:rPr lang="en-GB" dirty="0" err="1"/>
              <a:t>estruturalizaram</a:t>
            </a:r>
            <a:r>
              <a:rPr lang="en-GB" dirty="0"/>
              <a:t> a </a:t>
            </a:r>
            <a:r>
              <a:rPr lang="en-GB" dirty="0" err="1"/>
              <a:t>maneira</a:t>
            </a:r>
            <a:r>
              <a:rPr lang="en-GB" dirty="0"/>
              <a:t> com </a:t>
            </a:r>
            <a:r>
              <a:rPr lang="en-GB" dirty="0" err="1"/>
              <a:t>que</a:t>
            </a:r>
            <a:r>
              <a:rPr lang="en-GB" dirty="0"/>
              <a:t> o </a:t>
            </a:r>
            <a:r>
              <a:rPr lang="en-GB" dirty="0" err="1"/>
              <a:t>servidor</a:t>
            </a:r>
            <a:r>
              <a:rPr lang="en-GB" dirty="0"/>
              <a:t> se </a:t>
            </a:r>
            <a:r>
              <a:rPr lang="en-GB" dirty="0" err="1"/>
              <a:t>comunica</a:t>
            </a:r>
            <a:r>
              <a:rPr lang="en-GB" dirty="0"/>
              <a:t> com o </a:t>
            </a:r>
            <a:r>
              <a:rPr lang="en-GB" dirty="0" err="1"/>
              <a:t>cliente</a:t>
            </a:r>
            <a:r>
              <a:rPr lang="en-GB" dirty="0"/>
              <a:t> e com a </a:t>
            </a:r>
            <a:r>
              <a:rPr lang="en-GB" dirty="0" err="1"/>
              <a:t>diretoria</a:t>
            </a:r>
            <a:r>
              <a:rPr lang="en-GB" dirty="0"/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B0F20A-E236-C27E-B901-09A965836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39F016-1064-EBF1-97FA-5B08169928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6" name="Imagem 5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C4DC5294-8169-61EC-1615-BB924BE90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53" y="221928"/>
            <a:ext cx="5579848" cy="1707534"/>
          </a:xfrm>
          <a:prstGeom prst="rect">
            <a:avLst/>
          </a:prstGeom>
        </p:spPr>
      </p:pic>
      <p:pic>
        <p:nvPicPr>
          <p:cNvPr id="8" name="Imagem 7" descr="Texto&#10;&#10;O conteúdo gerado por IA pode estar incorreto.">
            <a:extLst>
              <a:ext uri="{FF2B5EF4-FFF2-40B4-BE49-F238E27FC236}">
                <a16:creationId xmlns:a16="http://schemas.microsoft.com/office/drawing/2014/main" id="{C7361561-C481-5B7F-1AE5-AC430B8F7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152" y="2198914"/>
            <a:ext cx="5579848" cy="755428"/>
          </a:xfrm>
          <a:prstGeom prst="rect">
            <a:avLst/>
          </a:prstGeom>
        </p:spPr>
      </p:pic>
      <p:pic>
        <p:nvPicPr>
          <p:cNvPr id="11" name="Imagem 10" descr="Texto&#10;&#10;O conteúdo gerado por IA pode estar incorreto.">
            <a:extLst>
              <a:ext uri="{FF2B5EF4-FFF2-40B4-BE49-F238E27FC236}">
                <a16:creationId xmlns:a16="http://schemas.microsoft.com/office/drawing/2014/main" id="{60AFBA34-976F-DF69-655C-8043976AE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152" y="3319904"/>
            <a:ext cx="5579848" cy="285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756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59CB1F-2D14-7414-099A-7017527A5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GB" dirty="0"/>
              <a:t>Clientes (Line Based Text)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7AEADD-CEBB-0825-2FC8-F0B8E5F56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92" y="1011665"/>
            <a:ext cx="5451627" cy="451462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84F92-1EBE-063B-0706-14796D3A8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>
            <a:normAutofit/>
          </a:bodyPr>
          <a:lstStyle/>
          <a:p>
            <a:r>
              <a:rPr lang="en-GB" dirty="0"/>
              <a:t>Para enviar mensagems com multiplas linhas, usamos esses BLOCKS que contém todas as linhas codificadas em uma única mensagem TCP com quebras de linha.</a:t>
            </a:r>
            <a:br>
              <a:rPr lang="en-GB" dirty="0"/>
            </a:br>
            <a:br>
              <a:rPr lang="en-GB" dirty="0"/>
            </a:br>
            <a:r>
              <a:rPr lang="en-GB" b="1" dirty="0"/>
              <a:t>BLOCK</a:t>
            </a:r>
            <a:r>
              <a:rPr lang="en-GB" dirty="0"/>
              <a:t> é usado para listas, tabelas de resultados e informações de perguntas.</a:t>
            </a:r>
          </a:p>
          <a:p>
            <a:r>
              <a:rPr lang="en-GB" b="1" dirty="0"/>
              <a:t>QUESTION_BLOCK </a:t>
            </a:r>
            <a:r>
              <a:rPr lang="pt-BR" dirty="0"/>
              <a:t>foi usado para as questões, opções de respostas e quando o servidor espera uma resposta do cliente.</a:t>
            </a:r>
            <a:endParaRPr lang="en-GB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7117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8099E3-5E89-935D-391B-F810BF418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1FCEF73-D0E6-8258-E161-5F80B8781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E863F2-C665-294D-480B-501A8FC6B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GB" dirty="0" err="1"/>
              <a:t>Atomização</a:t>
            </a:r>
            <a:r>
              <a:rPr lang="en-GB" dirty="0"/>
              <a:t> da BD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050CF78-1B1C-2187-D5FF-EFFB02C7D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FBBC2-81A8-2B3C-59F0-2C1899535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>
            <a:normAutofit/>
          </a:bodyPr>
          <a:lstStyle/>
          <a:p>
            <a:r>
              <a:rPr lang="pt-PT" dirty="0"/>
              <a:t>A classe DatabaseManager age como uma ponte para todas interações com a BD.</a:t>
            </a:r>
          </a:p>
          <a:p>
            <a:r>
              <a:rPr lang="pt-PT" dirty="0"/>
              <a:t>O Objeto dbLock criado na classe Server é utilizado para que não hajam acessos simultâneos à BD, para garantir que não haja nada capaz de causar conflito entre versões.</a:t>
            </a:r>
            <a:endParaRPr lang="en-GB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60FB37-DF68-FB91-BBA7-7C4F2257A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2DA5C3-F970-9244-78BD-43651BEC4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C0192B3F-FD00-8311-B4C8-17955249F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91" y="716863"/>
            <a:ext cx="6039301" cy="516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363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53494-D8C9-CDA6-937D-8F7696412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DatabaseManager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D5D4A-1D68-165F-B887-9276732D7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Respons</a:t>
            </a:r>
            <a:r>
              <a:rPr lang="pt-BR" dirty="0"/>
              <a:t>ável por estabelecer conexões, inicialização e execução de tudo ligado ao SQLite pelos servidores.</a:t>
            </a:r>
            <a:br>
              <a:rPr lang="pt-BR" dirty="0"/>
            </a:br>
            <a:br>
              <a:rPr lang="pt-BR" dirty="0"/>
            </a:br>
            <a:r>
              <a:rPr lang="pt-BR" dirty="0"/>
              <a:t>A database inclui tabelas para usuários, perguntas, opções, respostas e dados de configuração como a versão da database.</a:t>
            </a:r>
          </a:p>
          <a:p>
            <a:pPr marL="0" indent="0">
              <a:buNone/>
            </a:pPr>
            <a:r>
              <a:rPr lang="en-GB" dirty="0"/>
              <a:t>Também tem como responsabilidade a introdução de dados á database, e as regras que vêem com os mesmos, como os checks de e-mails ou nome de usu</a:t>
            </a:r>
            <a:r>
              <a:rPr lang="pt-BR" dirty="0"/>
              <a:t>ários únicos.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4002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9EC6B-AD08-CBC8-5094-294C0E9BA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REST – </a:t>
            </a:r>
            <a:r>
              <a:rPr lang="en-GB" dirty="0" err="1"/>
              <a:t>Implementação</a:t>
            </a:r>
            <a:r>
              <a:rPr lang="en-GB" dirty="0"/>
              <a:t> </a:t>
            </a:r>
            <a:r>
              <a:rPr lang="en-GB" dirty="0" err="1"/>
              <a:t>Teórica</a:t>
            </a:r>
            <a:endParaRPr lang="en-GB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108CDA3-396B-4A24-0269-5F99A05FD6C6}"/>
              </a:ext>
            </a:extLst>
          </p:cNvPr>
          <p:cNvSpPr txBox="1"/>
          <p:nvPr/>
        </p:nvSpPr>
        <p:spPr>
          <a:xfrm>
            <a:off x="1197429" y="2013857"/>
            <a:ext cx="99582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Os próximos slides contém as tabelas da API rest com exemplos de implementação da autenticação e de alguns usos para o professor.</a:t>
            </a:r>
          </a:p>
          <a:p>
            <a:endParaRPr lang="pt-PT" b="1" dirty="0"/>
          </a:p>
          <a:p>
            <a:r>
              <a:rPr lang="pt-PT" b="1" dirty="0"/>
              <a:t>Base URL </a:t>
            </a:r>
          </a:p>
          <a:p>
            <a:r>
              <a:rPr lang="pt-BR" dirty="0"/>
              <a:t>https://quiz.isec.pt/api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4838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6070B-9223-D86C-DFCE-95E984946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4EBF3122-0F3F-7280-5033-104E234E4E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718917"/>
              </p:ext>
            </p:extLst>
          </p:nvPr>
        </p:nvGraphicFramePr>
        <p:xfrm>
          <a:off x="0" y="1"/>
          <a:ext cx="12192000" cy="3492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1229">
                  <a:extLst>
                    <a:ext uri="{9D8B030D-6E8A-4147-A177-3AD203B41FA5}">
                      <a16:colId xmlns:a16="http://schemas.microsoft.com/office/drawing/2014/main" val="3697981812"/>
                    </a:ext>
                  </a:extLst>
                </a:gridCol>
                <a:gridCol w="2164378">
                  <a:extLst>
                    <a:ext uri="{9D8B030D-6E8A-4147-A177-3AD203B41FA5}">
                      <a16:colId xmlns:a16="http://schemas.microsoft.com/office/drawing/2014/main" val="3081955602"/>
                    </a:ext>
                  </a:extLst>
                </a:gridCol>
                <a:gridCol w="2805926">
                  <a:extLst>
                    <a:ext uri="{9D8B030D-6E8A-4147-A177-3AD203B41FA5}">
                      <a16:colId xmlns:a16="http://schemas.microsoft.com/office/drawing/2014/main" val="105707603"/>
                    </a:ext>
                  </a:extLst>
                </a:gridCol>
                <a:gridCol w="2924815">
                  <a:extLst>
                    <a:ext uri="{9D8B030D-6E8A-4147-A177-3AD203B41FA5}">
                      <a16:colId xmlns:a16="http://schemas.microsoft.com/office/drawing/2014/main" val="1277617853"/>
                    </a:ext>
                  </a:extLst>
                </a:gridCol>
                <a:gridCol w="3175652">
                  <a:extLst>
                    <a:ext uri="{9D8B030D-6E8A-4147-A177-3AD203B41FA5}">
                      <a16:colId xmlns:a16="http://schemas.microsoft.com/office/drawing/2014/main" val="2021071402"/>
                    </a:ext>
                  </a:extLst>
                </a:gridCol>
              </a:tblGrid>
              <a:tr h="663208">
                <a:tc>
                  <a:txBody>
                    <a:bodyPr/>
                    <a:lstStyle/>
                    <a:p>
                      <a:r>
                        <a:rPr lang="en-GB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Request Body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Response Body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483975"/>
                  </a:ext>
                </a:extLst>
              </a:tr>
              <a:tr h="663208">
                <a:tc>
                  <a:txBody>
                    <a:bodyPr/>
                    <a:lstStyle/>
                    <a:p>
                      <a:r>
                        <a:rPr lang="en-GB" dirty="0"/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/auth/login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{</a:t>
                      </a:r>
                      <a:r>
                        <a:rPr lang="pt-BR" dirty="0" err="1"/>
                        <a:t>email</a:t>
                      </a:r>
                      <a:r>
                        <a:rPr lang="pt-BR" dirty="0"/>
                        <a:t>, </a:t>
                      </a:r>
                      <a:r>
                        <a:rPr lang="pt-BR" dirty="0" err="1"/>
                        <a:t>password</a:t>
                      </a:r>
                      <a:r>
                        <a:rPr lang="pt-BR" dirty="0"/>
                        <a:t>}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{ "token": "&lt;token&gt;", "id": &lt;id&gt;, "role": "STUDENT/TEACHER" }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Autentica</a:t>
                      </a:r>
                      <a:r>
                        <a:rPr lang="en-GB" dirty="0"/>
                        <a:t> o </a:t>
                      </a:r>
                      <a:r>
                        <a:rPr lang="en-GB" dirty="0" err="1"/>
                        <a:t>utilizador</a:t>
                      </a:r>
                      <a:r>
                        <a:rPr lang="en-GB" dirty="0"/>
                        <a:t> e devolve o token bearer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105032"/>
                  </a:ext>
                </a:extLst>
              </a:tr>
              <a:tr h="967731">
                <a:tc>
                  <a:txBody>
                    <a:bodyPr/>
                    <a:lstStyle/>
                    <a:p>
                      <a:r>
                        <a:rPr lang="en-GB" dirty="0"/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/auth/register/student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{ "nome": "...", "</a:t>
                      </a:r>
                      <a:r>
                        <a:rPr lang="pt-BR" dirty="0" err="1"/>
                        <a:t>email</a:t>
                      </a:r>
                      <a:r>
                        <a:rPr lang="pt-BR" dirty="0"/>
                        <a:t>": "...", "</a:t>
                      </a:r>
                      <a:r>
                        <a:rPr lang="pt-BR" dirty="0" err="1"/>
                        <a:t>password</a:t>
                      </a:r>
                      <a:r>
                        <a:rPr lang="pt-BR" dirty="0"/>
                        <a:t>": "..." }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{ "id": &lt;id&gt;, "nome": "...", "</a:t>
                      </a:r>
                      <a:r>
                        <a:rPr lang="pt-BR" dirty="0" err="1"/>
                        <a:t>email</a:t>
                      </a:r>
                      <a:r>
                        <a:rPr lang="pt-BR" dirty="0"/>
                        <a:t>": "..." }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Registra</a:t>
                      </a:r>
                      <a:r>
                        <a:rPr lang="en-GB" dirty="0"/>
                        <a:t> um novo </a:t>
                      </a:r>
                      <a:r>
                        <a:rPr lang="en-GB" dirty="0" err="1"/>
                        <a:t>estudante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974108"/>
                  </a:ext>
                </a:extLst>
              </a:tr>
              <a:tr h="947441">
                <a:tc>
                  <a:txBody>
                    <a:bodyPr/>
                    <a:lstStyle/>
                    <a:p>
                      <a:r>
                        <a:rPr lang="en-GB" dirty="0"/>
                        <a:t>(Pós login)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Header:</a:t>
                      </a:r>
                      <a:r>
                        <a:rPr lang="pt-BR" dirty="0"/>
                        <a:t> </a:t>
                      </a:r>
                      <a:r>
                        <a:rPr lang="pt-BR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Authorization</a:t>
                      </a:r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pt-BR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Bearer</a:t>
                      </a:r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&lt;token&gt;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 -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-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Header obrigatório para todos os </a:t>
                      </a:r>
                      <a:r>
                        <a:rPr lang="pt-BR" dirty="0" err="1"/>
                        <a:t>endpoints</a:t>
                      </a:r>
                      <a:r>
                        <a:rPr lang="pt-BR" dirty="0"/>
                        <a:t> protegidos (aluno + professor)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494472"/>
                  </a:ext>
                </a:extLst>
              </a:tr>
            </a:tbl>
          </a:graphicData>
        </a:graphic>
      </p:graphicFrame>
      <p:sp>
        <p:nvSpPr>
          <p:cNvPr id="2" name="CaixaDeTexto 1">
            <a:extLst>
              <a:ext uri="{FF2B5EF4-FFF2-40B4-BE49-F238E27FC236}">
                <a16:creationId xmlns:a16="http://schemas.microsoft.com/office/drawing/2014/main" id="{D0158A9E-9CEA-1D8C-BED1-9B37000D1B7E}"/>
              </a:ext>
            </a:extLst>
          </p:cNvPr>
          <p:cNvSpPr txBox="1"/>
          <p:nvPr/>
        </p:nvSpPr>
        <p:spPr>
          <a:xfrm>
            <a:off x="2416628" y="4234541"/>
            <a:ext cx="73587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Após o login, o cliente envia o token em </a:t>
            </a:r>
            <a:r>
              <a:rPr lang="pt-BR" b="1" dirty="0"/>
              <a:t>todas</a:t>
            </a:r>
            <a:r>
              <a:rPr lang="pt-BR" dirty="0"/>
              <a:t> as operações protegidas.</a:t>
            </a:r>
          </a:p>
          <a:p>
            <a:endParaRPr lang="pt-BR" dirty="0"/>
          </a:p>
          <a:p>
            <a:r>
              <a:rPr lang="pt-BR" dirty="0"/>
              <a:t>Se o token faltar = 401 </a:t>
            </a:r>
            <a:r>
              <a:rPr lang="pt-BR" dirty="0" err="1"/>
              <a:t>Unauthorized</a:t>
            </a:r>
            <a:endParaRPr lang="pt-BR" dirty="0"/>
          </a:p>
          <a:p>
            <a:endParaRPr lang="pt-BR" dirty="0"/>
          </a:p>
          <a:p>
            <a:r>
              <a:rPr lang="pt-BR" dirty="0"/>
              <a:t>Se o token for inválido = 403 </a:t>
            </a:r>
            <a:r>
              <a:rPr lang="pt-BR" dirty="0" err="1"/>
              <a:t>Forbidden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2809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0A48F-1C18-0154-982D-3585DD5FA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237AAD02-1F30-2430-186F-A69059A93B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371134"/>
              </p:ext>
            </p:extLst>
          </p:nvPr>
        </p:nvGraphicFramePr>
        <p:xfrm>
          <a:off x="0" y="1"/>
          <a:ext cx="12192000" cy="63681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3626">
                  <a:extLst>
                    <a:ext uri="{9D8B030D-6E8A-4147-A177-3AD203B41FA5}">
                      <a16:colId xmlns:a16="http://schemas.microsoft.com/office/drawing/2014/main" val="3697981812"/>
                    </a:ext>
                  </a:extLst>
                </a:gridCol>
                <a:gridCol w="2361981">
                  <a:extLst>
                    <a:ext uri="{9D8B030D-6E8A-4147-A177-3AD203B41FA5}">
                      <a16:colId xmlns:a16="http://schemas.microsoft.com/office/drawing/2014/main" val="3081955602"/>
                    </a:ext>
                  </a:extLst>
                </a:gridCol>
                <a:gridCol w="2805926">
                  <a:extLst>
                    <a:ext uri="{9D8B030D-6E8A-4147-A177-3AD203B41FA5}">
                      <a16:colId xmlns:a16="http://schemas.microsoft.com/office/drawing/2014/main" val="105707603"/>
                    </a:ext>
                  </a:extLst>
                </a:gridCol>
                <a:gridCol w="2924815">
                  <a:extLst>
                    <a:ext uri="{9D8B030D-6E8A-4147-A177-3AD203B41FA5}">
                      <a16:colId xmlns:a16="http://schemas.microsoft.com/office/drawing/2014/main" val="1277617853"/>
                    </a:ext>
                  </a:extLst>
                </a:gridCol>
                <a:gridCol w="3175652">
                  <a:extLst>
                    <a:ext uri="{9D8B030D-6E8A-4147-A177-3AD203B41FA5}">
                      <a16:colId xmlns:a16="http://schemas.microsoft.com/office/drawing/2014/main" val="2021071402"/>
                    </a:ext>
                  </a:extLst>
                </a:gridCol>
              </a:tblGrid>
              <a:tr h="663208">
                <a:tc>
                  <a:txBody>
                    <a:bodyPr/>
                    <a:lstStyle/>
                    <a:p>
                      <a:r>
                        <a:rPr lang="en-GB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Request Body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Response Body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483975"/>
                  </a:ext>
                </a:extLst>
              </a:tr>
              <a:tr h="663208">
                <a:tc>
                  <a:txBody>
                    <a:bodyPr/>
                    <a:lstStyle/>
                    <a:p>
                      <a:r>
                        <a:rPr lang="en-GB" dirty="0"/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/auth/register/teacher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{</a:t>
                      </a:r>
                      <a:r>
                        <a:rPr lang="en-GB" dirty="0" err="1"/>
                        <a:t>nome</a:t>
                      </a:r>
                      <a:r>
                        <a:rPr lang="en-GB" dirty="0"/>
                        <a:t>, email, password, </a:t>
                      </a:r>
                      <a:r>
                        <a:rPr lang="en-GB" dirty="0" err="1"/>
                        <a:t>teacherCode</a:t>
                      </a:r>
                      <a:r>
                        <a:rPr lang="en-GB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201 Created + {id, </a:t>
                      </a:r>
                      <a:r>
                        <a:rPr lang="en-GB" dirty="0" err="1"/>
                        <a:t>nome</a:t>
                      </a:r>
                      <a:r>
                        <a:rPr lang="en-GB" dirty="0"/>
                        <a:t>, email}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Regista</a:t>
                      </a:r>
                      <a:r>
                        <a:rPr lang="en-GB" dirty="0"/>
                        <a:t> um novo </a:t>
                      </a:r>
                      <a:r>
                        <a:rPr lang="en-GB" dirty="0" err="1"/>
                        <a:t>docente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105032"/>
                  </a:ext>
                </a:extLst>
              </a:tr>
              <a:tr h="967731">
                <a:tc>
                  <a:txBody>
                    <a:bodyPr/>
                    <a:lstStyle/>
                    <a:p>
                      <a:r>
                        <a:rPr lang="en-GB" dirty="0"/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/questions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{ </a:t>
                      </a:r>
                      <a:r>
                        <a:rPr lang="pt-BR" dirty="0" err="1"/>
                        <a:t>statement</a:t>
                      </a:r>
                      <a:r>
                        <a:rPr lang="pt-BR" dirty="0"/>
                        <a:t>, inicio, fim, </a:t>
                      </a:r>
                      <a:r>
                        <a:rPr lang="pt-BR" dirty="0" err="1"/>
                        <a:t>opcoes</a:t>
                      </a:r>
                      <a:r>
                        <a:rPr lang="pt-BR" dirty="0"/>
                        <a:t>: [{</a:t>
                      </a:r>
                      <a:r>
                        <a:rPr lang="pt-BR" dirty="0" err="1"/>
                        <a:t>codigo</a:t>
                      </a:r>
                      <a:r>
                        <a:rPr lang="pt-BR" dirty="0"/>
                        <a:t>, texto, correta}]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201 Created + </a:t>
                      </a:r>
                      <a:r>
                        <a:rPr lang="pt-BR" dirty="0"/>
                        <a:t>{ id, </a:t>
                      </a:r>
                      <a:r>
                        <a:rPr lang="pt-BR" dirty="0" err="1"/>
                        <a:t>accessCode</a:t>
                      </a:r>
                      <a:r>
                        <a:rPr lang="pt-BR" dirty="0"/>
                        <a:t>, </a:t>
                      </a:r>
                      <a:r>
                        <a:rPr lang="pt-BR" dirty="0" err="1"/>
                        <a:t>statement</a:t>
                      </a:r>
                      <a:r>
                        <a:rPr lang="pt-BR" dirty="0"/>
                        <a:t>, inicio, fim }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Cria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uma</a:t>
                      </a:r>
                      <a:r>
                        <a:rPr lang="en-GB" dirty="0"/>
                        <a:t> nova </a:t>
                      </a:r>
                      <a:r>
                        <a:rPr lang="en-GB" dirty="0" err="1"/>
                        <a:t>pergunta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974108"/>
                  </a:ext>
                </a:extLst>
              </a:tr>
              <a:tr h="947441">
                <a:tc>
                  <a:txBody>
                    <a:bodyPr/>
                    <a:lstStyle/>
                    <a:p>
                      <a:r>
                        <a:rPr lang="en-GB" dirty="0"/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/me/questions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 -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200 OK + </a:t>
                      </a:r>
                      <a:r>
                        <a:rPr lang="pt-BR" dirty="0"/>
                        <a:t>[{ id, </a:t>
                      </a:r>
                      <a:r>
                        <a:rPr lang="pt-BR" dirty="0" err="1"/>
                        <a:t>accessCode</a:t>
                      </a:r>
                      <a:r>
                        <a:rPr lang="pt-BR" dirty="0"/>
                        <a:t>, </a:t>
                      </a:r>
                      <a:r>
                        <a:rPr lang="pt-BR" dirty="0" err="1"/>
                        <a:t>statement</a:t>
                      </a:r>
                      <a:r>
                        <a:rPr lang="pt-BR" dirty="0"/>
                        <a:t>, inicio, fim, estado }]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Lista </a:t>
                      </a:r>
                      <a:r>
                        <a:rPr lang="en-GB" dirty="0" err="1"/>
                        <a:t>perguntas</a:t>
                      </a:r>
                      <a:r>
                        <a:rPr lang="en-GB" dirty="0"/>
                        <a:t> do </a:t>
                      </a:r>
                      <a:r>
                        <a:rPr lang="en-GB" dirty="0" err="1"/>
                        <a:t>docente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494472"/>
                  </a:ext>
                </a:extLst>
              </a:tr>
              <a:tr h="947441">
                <a:tc>
                  <a:txBody>
                    <a:bodyPr/>
                    <a:lstStyle/>
                    <a:p>
                      <a:r>
                        <a:rPr lang="en-GB" dirty="0"/>
                        <a:t>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/questions/{id}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200 OK + </a:t>
                      </a:r>
                      <a:r>
                        <a:rPr lang="pt-BR" dirty="0"/>
                        <a:t>{ id, </a:t>
                      </a:r>
                      <a:r>
                        <a:rPr lang="pt-BR" dirty="0" err="1"/>
                        <a:t>accessCode</a:t>
                      </a:r>
                      <a:r>
                        <a:rPr lang="pt-BR" dirty="0"/>
                        <a:t>, </a:t>
                      </a:r>
                      <a:r>
                        <a:rPr lang="pt-BR" dirty="0" err="1"/>
                        <a:t>statement</a:t>
                      </a:r>
                      <a:r>
                        <a:rPr lang="pt-BR" dirty="0"/>
                        <a:t>, inicio, fim, </a:t>
                      </a:r>
                      <a:r>
                        <a:rPr lang="pt-BR" dirty="0" err="1"/>
                        <a:t>opcoes</a:t>
                      </a:r>
                      <a:r>
                        <a:rPr lang="pt-BR" dirty="0"/>
                        <a:t>: [{</a:t>
                      </a:r>
                      <a:r>
                        <a:rPr lang="pt-BR" dirty="0" err="1"/>
                        <a:t>codigo</a:t>
                      </a:r>
                      <a:r>
                        <a:rPr lang="pt-BR" dirty="0"/>
                        <a:t>, texto}] }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Devolve </a:t>
                      </a:r>
                      <a:r>
                        <a:rPr lang="en-GB" dirty="0" err="1"/>
                        <a:t>os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detalhes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completos</a:t>
                      </a:r>
                      <a:r>
                        <a:rPr lang="en-GB" dirty="0"/>
                        <a:t> de </a:t>
                      </a:r>
                      <a:r>
                        <a:rPr lang="en-GB" dirty="0" err="1"/>
                        <a:t>uma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pergunta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508151"/>
                  </a:ext>
                </a:extLst>
              </a:tr>
              <a:tr h="1231673">
                <a:tc>
                  <a:txBody>
                    <a:bodyPr/>
                    <a:lstStyle/>
                    <a:p>
                      <a:r>
                        <a:rPr lang="en-GB" dirty="0"/>
                        <a:t>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/questions/{Id}/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 </a:t>
                      </a:r>
                      <a:r>
                        <a:rPr lang="pt-BR" dirty="0"/>
                        <a:t>{ </a:t>
                      </a:r>
                      <a:r>
                        <a:rPr lang="pt-BR" dirty="0" err="1"/>
                        <a:t>statement</a:t>
                      </a:r>
                      <a:r>
                        <a:rPr lang="pt-BR" dirty="0"/>
                        <a:t>?, inicio?, fim?, </a:t>
                      </a:r>
                      <a:r>
                        <a:rPr lang="pt-BR" dirty="0" err="1"/>
                        <a:t>opcoes</a:t>
                      </a:r>
                      <a:r>
                        <a:rPr lang="pt-BR" dirty="0"/>
                        <a:t>?: [{</a:t>
                      </a:r>
                      <a:r>
                        <a:rPr lang="pt-BR" dirty="0" err="1"/>
                        <a:t>codigo</a:t>
                      </a:r>
                      <a:r>
                        <a:rPr lang="pt-BR" dirty="0"/>
                        <a:t>, texto, correta}] }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200 OK</a:t>
                      </a:r>
                      <a:r>
                        <a:rPr lang="pt-BR" dirty="0"/>
                        <a:t> + pergunta </a:t>
                      </a:r>
                      <a:r>
                        <a:rPr lang="pt-BR" dirty="0" err="1"/>
                        <a:t>actualizada</a:t>
                      </a:r>
                      <a:r>
                        <a:rPr lang="pt-BR" dirty="0"/>
                        <a:t> ou erro </a:t>
                      </a:r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409 </a:t>
                      </a:r>
                      <a:r>
                        <a:rPr lang="pt-BR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Conflict</a:t>
                      </a:r>
                      <a:r>
                        <a:rPr lang="pt-BR" dirty="0"/>
                        <a:t> se a pergunta já tiver respostas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Edita </a:t>
                      </a:r>
                      <a:r>
                        <a:rPr lang="en-GB" dirty="0" err="1"/>
                        <a:t>uma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pergunta</a:t>
                      </a:r>
                      <a:r>
                        <a:rPr lang="en-GB" dirty="0"/>
                        <a:t> se </a:t>
                      </a:r>
                      <a:r>
                        <a:rPr lang="en-GB" dirty="0" err="1"/>
                        <a:t>ainda</a:t>
                      </a:r>
                      <a:r>
                        <a:rPr lang="en-GB" dirty="0"/>
                        <a:t> nao </a:t>
                      </a:r>
                      <a:r>
                        <a:rPr lang="en-GB" dirty="0" err="1"/>
                        <a:t>houverem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respostas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80106"/>
                  </a:ext>
                </a:extLst>
              </a:tr>
              <a:tr h="947441">
                <a:tc>
                  <a:txBody>
                    <a:bodyPr/>
                    <a:lstStyle/>
                    <a:p>
                      <a:r>
                        <a:rPr lang="en-GB" dirty="0"/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/questions/{id}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 -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204 No </a:t>
                      </a:r>
                      <a:r>
                        <a:rPr lang="pt-BR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Content</a:t>
                      </a:r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ou</a:t>
                      </a:r>
                      <a:r>
                        <a:rPr lang="pt-BR" dirty="0"/>
                        <a:t> erro </a:t>
                      </a:r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409 </a:t>
                      </a:r>
                      <a:r>
                        <a:rPr lang="pt-BR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Conflict</a:t>
                      </a:r>
                      <a:r>
                        <a:rPr lang="pt-BR" dirty="0"/>
                        <a:t> se a pergunta já tiver respostas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Deleta </a:t>
                      </a:r>
                      <a:r>
                        <a:rPr lang="en-GB" dirty="0" err="1"/>
                        <a:t>uma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pergunta</a:t>
                      </a:r>
                      <a:r>
                        <a:rPr lang="en-GB" dirty="0"/>
                        <a:t> se </a:t>
                      </a:r>
                      <a:r>
                        <a:rPr lang="en-GB" dirty="0" err="1"/>
                        <a:t>ainda</a:t>
                      </a:r>
                      <a:r>
                        <a:rPr lang="en-GB" dirty="0"/>
                        <a:t> nao </a:t>
                      </a:r>
                      <a:r>
                        <a:rPr lang="en-GB" dirty="0" err="1"/>
                        <a:t>houverem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respostas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296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0273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6F647-EAC9-62D5-FE0B-6130E725F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</a:t>
            </a:r>
            <a:r>
              <a:rPr lang="pt-BR" dirty="0" err="1"/>
              <a:t>xemplos</a:t>
            </a:r>
            <a:r>
              <a:rPr lang="pt-BR" dirty="0"/>
              <a:t> JSON</a:t>
            </a:r>
            <a:endParaRPr lang="en-GB" dirty="0"/>
          </a:p>
        </p:txBody>
      </p:sp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B7883DB3-0948-67E5-F0FB-0B6FB5FCB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38" y="1938130"/>
            <a:ext cx="3855720" cy="2226642"/>
          </a:xfrm>
          <a:prstGeom prst="rect">
            <a:avLst/>
          </a:prstGeom>
        </p:spPr>
      </p:pic>
      <p:pic>
        <p:nvPicPr>
          <p:cNvPr id="7" name="Imagem 6" descr="Texto&#10;&#10;O conteúdo gerado por IA pode estar incorreto.">
            <a:extLst>
              <a:ext uri="{FF2B5EF4-FFF2-40B4-BE49-F238E27FC236}">
                <a16:creationId xmlns:a16="http://schemas.microsoft.com/office/drawing/2014/main" id="{E653F03F-0D62-2D85-78FA-1B70B7674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9743" y="1938130"/>
            <a:ext cx="4286794" cy="3005415"/>
          </a:xfrm>
          <a:prstGeom prst="rect">
            <a:avLst/>
          </a:prstGeom>
        </p:spPr>
      </p:pic>
      <p:pic>
        <p:nvPicPr>
          <p:cNvPr id="9" name="Imagem 8" descr="Texto&#10;&#10;O conteúdo gerado por IA pode estar incorreto.">
            <a:extLst>
              <a:ext uri="{FF2B5EF4-FFF2-40B4-BE49-F238E27FC236}">
                <a16:creationId xmlns:a16="http://schemas.microsoft.com/office/drawing/2014/main" id="{CD39C1ED-0C9C-FD50-7179-ACB04F2F34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938" y="4410516"/>
            <a:ext cx="5993166" cy="185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2952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C9DBA-4F36-8A67-CB0F-69F11D794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99925-4922-58A5-F5FB-D51511A66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RMI – </a:t>
            </a:r>
            <a:r>
              <a:rPr lang="en-GB" dirty="0" err="1"/>
              <a:t>Implementação</a:t>
            </a:r>
            <a:r>
              <a:rPr lang="en-GB" dirty="0"/>
              <a:t> </a:t>
            </a:r>
            <a:r>
              <a:rPr lang="en-GB" dirty="0" err="1"/>
              <a:t>Teórica</a:t>
            </a:r>
            <a:endParaRPr lang="en-GB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A0AFCAB-9003-1339-AD46-A21D3C582C91}"/>
              </a:ext>
            </a:extLst>
          </p:cNvPr>
          <p:cNvSpPr txBox="1"/>
          <p:nvPr/>
        </p:nvSpPr>
        <p:spPr>
          <a:xfrm>
            <a:off x="1197429" y="2013857"/>
            <a:ext cx="995825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Serviço remoto</a:t>
            </a:r>
            <a:endParaRPr lang="pt-BR" dirty="0"/>
          </a:p>
          <a:p>
            <a:r>
              <a:rPr lang="pt-BR" dirty="0"/>
              <a:t>Objeto </a:t>
            </a:r>
            <a:r>
              <a:rPr lang="pt-BR" dirty="0" err="1"/>
              <a:t>QuizService</a:t>
            </a:r>
            <a:r>
              <a:rPr lang="pt-BR" dirty="0"/>
              <a:t> registrado no RMI Registry do servidor primário</a:t>
            </a:r>
          </a:p>
          <a:p>
            <a:r>
              <a:rPr lang="pt-BR" dirty="0"/>
              <a:t>Clientes obtêm </a:t>
            </a:r>
            <a:r>
              <a:rPr lang="pt-BR" dirty="0" err="1"/>
              <a:t>stub</a:t>
            </a:r>
            <a:r>
              <a:rPr lang="pt-BR" dirty="0"/>
              <a:t> via </a:t>
            </a:r>
            <a:r>
              <a:rPr lang="pt-BR" dirty="0" err="1"/>
              <a:t>Naming.lookup</a:t>
            </a:r>
            <a:r>
              <a:rPr lang="pt-BR" dirty="0"/>
              <a:t>("</a:t>
            </a:r>
            <a:r>
              <a:rPr lang="pt-BR" dirty="0" err="1"/>
              <a:t>rmi</a:t>
            </a:r>
            <a:r>
              <a:rPr lang="pt-BR" dirty="0"/>
              <a:t>://</a:t>
            </a:r>
            <a:r>
              <a:rPr lang="pt-BR" dirty="0" err="1"/>
              <a:t>localhost</a:t>
            </a:r>
            <a:r>
              <a:rPr lang="pt-BR" dirty="0"/>
              <a:t>/</a:t>
            </a:r>
            <a:r>
              <a:rPr lang="pt-BR" dirty="0" err="1"/>
              <a:t>QuizService</a:t>
            </a:r>
            <a:r>
              <a:rPr lang="pt-BR" dirty="0"/>
              <a:t>")</a:t>
            </a:r>
          </a:p>
          <a:p>
            <a:r>
              <a:rPr lang="pt-BR" b="1" dirty="0"/>
              <a:t>Autenticação / autorização</a:t>
            </a:r>
            <a:endParaRPr lang="pt-BR" dirty="0"/>
          </a:p>
          <a:p>
            <a:r>
              <a:rPr lang="pt-BR" dirty="0"/>
              <a:t>login devolve um </a:t>
            </a:r>
            <a:r>
              <a:rPr lang="pt-BR" dirty="0" err="1"/>
              <a:t>AuthToken</a:t>
            </a:r>
            <a:r>
              <a:rPr lang="pt-BR" dirty="0"/>
              <a:t> (ex.: UUID) usado em todas as chamadas seguintes</a:t>
            </a:r>
          </a:p>
          <a:p>
            <a:r>
              <a:rPr lang="pt-BR" dirty="0"/>
              <a:t>O servidor valida o token e o tipo de utilizador (ALUNO / PROFESSOR) antes de executar</a:t>
            </a:r>
          </a:p>
          <a:p>
            <a:r>
              <a:rPr lang="pt-BR" b="1" dirty="0"/>
              <a:t>Transferência de ficheiros (CSV)</a:t>
            </a:r>
            <a:endParaRPr lang="pt-BR" dirty="0"/>
          </a:p>
          <a:p>
            <a:r>
              <a:rPr lang="pt-BR" dirty="0"/>
              <a:t>Métodos </a:t>
            </a:r>
            <a:r>
              <a:rPr lang="pt-BR" dirty="0" err="1"/>
              <a:t>exportResultsCsv</a:t>
            </a:r>
            <a:r>
              <a:rPr lang="pt-BR" dirty="0"/>
              <a:t> e </a:t>
            </a:r>
            <a:r>
              <a:rPr lang="pt-BR" dirty="0" err="1"/>
              <a:t>exportAllResultsCsv</a:t>
            </a:r>
            <a:r>
              <a:rPr lang="pt-BR" dirty="0"/>
              <a:t> devolvem um byte[] com o conteúdo do ficheiro</a:t>
            </a:r>
          </a:p>
          <a:p>
            <a:r>
              <a:rPr lang="pt-BR" dirty="0"/>
              <a:t>O cliente escreve esse byte[] diretamente para o disco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951899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49494-E303-E223-E150-3070BDCB1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8384A-C4A5-3936-B494-1385BD84E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RMI – </a:t>
            </a:r>
            <a:r>
              <a:rPr lang="en-GB" dirty="0" err="1"/>
              <a:t>Implementação</a:t>
            </a:r>
            <a:r>
              <a:rPr lang="en-GB" dirty="0"/>
              <a:t> </a:t>
            </a:r>
            <a:r>
              <a:rPr lang="en-GB" dirty="0" err="1"/>
              <a:t>Teórica</a:t>
            </a:r>
            <a:endParaRPr lang="en-GB" dirty="0"/>
          </a:p>
        </p:txBody>
      </p:sp>
      <p:pic>
        <p:nvPicPr>
          <p:cNvPr id="4" name="Imagem 3" descr="Texto&#10;&#10;O conteúdo gerado por IA pode estar incorreto.">
            <a:extLst>
              <a:ext uri="{FF2B5EF4-FFF2-40B4-BE49-F238E27FC236}">
                <a16:creationId xmlns:a16="http://schemas.microsoft.com/office/drawing/2014/main" id="{AC57A8C0-6748-BC3D-96D9-30CE1C2F2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5170" y="1831008"/>
            <a:ext cx="5161660" cy="442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1741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444</TotalTime>
  <Words>1552</Words>
  <Application>Microsoft Office PowerPoint</Application>
  <PresentationFormat>Widescreen</PresentationFormat>
  <Paragraphs>165</Paragraphs>
  <Slides>21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6" baseType="lpstr">
      <vt:lpstr>Aptos</vt:lpstr>
      <vt:lpstr>Arial</vt:lpstr>
      <vt:lpstr>Calibri</vt:lpstr>
      <vt:lpstr>Calibri Light</vt:lpstr>
      <vt:lpstr>Retrospect</vt:lpstr>
      <vt:lpstr>TP PD 25/26</vt:lpstr>
      <vt:lpstr>Ordem de inicialização e Parâmetros</vt:lpstr>
      <vt:lpstr>Data flow</vt:lpstr>
      <vt:lpstr>Exemplos de Data Flow</vt:lpstr>
      <vt:lpstr>Ficheiros Principais</vt:lpstr>
      <vt:lpstr>Directory Service</vt:lpstr>
      <vt:lpstr>Directory Service Methods</vt:lpstr>
      <vt:lpstr>Servers</vt:lpstr>
      <vt:lpstr>Servers</vt:lpstr>
      <vt:lpstr>Clientes</vt:lpstr>
      <vt:lpstr>Decisões Chave</vt:lpstr>
      <vt:lpstr>Protocolos de Comunicação</vt:lpstr>
      <vt:lpstr>Clientes (Line Based Text)</vt:lpstr>
      <vt:lpstr>Atomização da BD</vt:lpstr>
      <vt:lpstr>DatabaseManager</vt:lpstr>
      <vt:lpstr>REST – Implementação Teórica</vt:lpstr>
      <vt:lpstr>Apresentação do PowerPoint</vt:lpstr>
      <vt:lpstr>Apresentação do PowerPoint</vt:lpstr>
      <vt:lpstr>Exemplos JSON</vt:lpstr>
      <vt:lpstr>RMI – Implementação Teórica</vt:lpstr>
      <vt:lpstr>RMI – Implementação Teórica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Octavio Marote Ribeiro</dc:creator>
  <cp:lastModifiedBy>Luccas Galvan</cp:lastModifiedBy>
  <cp:revision>7</cp:revision>
  <dcterms:created xsi:type="dcterms:W3CDTF">2025-12-07T07:29:15Z</dcterms:created>
  <dcterms:modified xsi:type="dcterms:W3CDTF">2025-12-08T05:23:40Z</dcterms:modified>
</cp:coreProperties>
</file>